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Helvetica Neue"/>
              </a:defRPr>
            </a:pPr>
            <a:r>
              <a:rPr sz="1000" b="0" i="0" u="none" strike="noStrike">
                <a:solidFill>
                  <a:srgbClr val="6B7280"/>
                </a:solidFill>
                <a:latin typeface="Helvetica Neue"/>
              </a:rPr>
              <a:t>USCIS + EOIR — annual filings, thousands (USCIS FY data)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Filings</c:v>
                </c:pt>
              </c:strCache>
            </c:strRef>
          </c:tx>
          <c:spPr>
            <a:solidFill>
              <a:srgbClr val="C87A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238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Family-based
petitions</c:v>
                  </c:pt>
                  <c:pt idx="1">
                    <c:v>Naturalization</c:v>
                  </c:pt>
                  <c:pt idx="2">
                    <c:v>Asylum / Refugee</c:v>
                  </c:pt>
                  <c:pt idx="3">
                    <c:v>Adjustment of
status</c:v>
                  </c:pt>
                  <c:pt idx="4">
                    <c:v>EOIR
immigration court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770</c:v>
                </c:pt>
                <c:pt idx="1">
                  <c:v>980</c:v>
                </c:pt>
                <c:pt idx="2">
                  <c:v>240</c:v>
                </c:pt>
                <c:pt idx="3">
                  <c:v>700</c:v>
                </c:pt>
                <c:pt idx="4">
                  <c:v>350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2238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2238"/>
                </a:solidFill>
                <a:latin typeface="Helvetica Neu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2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8A9A8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0" y="64008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6459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C9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CALIFORNIA LDA · IMMIGRATION CONSULTANT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210312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Imverica</a:t>
            </a:r>
            <a:endParaRPr lang="en-US" sz="9600" dirty="0"/>
          </a:p>
        </p:txBody>
      </p:sp>
      <p:sp>
        <p:nvSpPr>
          <p:cNvPr id="6" name="Text 3"/>
          <p:cNvSpPr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Legal paperwork, </a:t>
            </a:r>
            <a:pPr indent="0" marL="0">
              <a:buNone/>
            </a:pPr>
            <a:r>
              <a:rPr lang="en-US" sz="2800" b="1" i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tech-enabled</a:t>
            </a:r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914400" y="448056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D2C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Multilingual document preparation + supervising attorneys — for the immigrant communities of Northern California.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9D2C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Built by an operator with </a:t>
            </a:r>
            <a:pPr indent="0" marL="0">
              <a:buNone/>
            </a:pPr>
            <a:r>
              <a:rPr lang="en-US" sz="1300" b="1" i="1" dirty="0">
                <a:solidFill>
                  <a:srgbClr val="C9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11+ years</a:t>
            </a:r>
            <a:pPr indent="0" marL="0">
              <a:buNone/>
            </a:pPr>
            <a:r>
              <a:rPr lang="en-US" sz="1300" i="1" dirty="0">
                <a:solidFill>
                  <a:srgbClr val="D9D2C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of USCIS petition experience, trained under a licensed immigration attorney.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9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imverica.com   ·   +1 (916) 399-3992   ·   Sacramento, CA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C87A5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8872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Immigration paperwork breaks people — financially, legally, linguistically.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C87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$5,000+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Average attorney retainer for a single USCIS petition. Out of reach for most immigrants.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89120" y="219456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1A2E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4389120" y="3520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Of pro se USCIS filings are denied or RFE’d for preventable form errors.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0" y="219456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8A9A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6400" dirty="0"/>
          </a:p>
        </p:txBody>
      </p:sp>
      <p:sp>
        <p:nvSpPr>
          <p:cNvPr id="11" name="Text 9"/>
          <p:cNvSpPr/>
          <p:nvPr/>
        </p:nvSpPr>
        <p:spPr>
          <a:xfrm>
            <a:off x="8229600" y="3520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Languages spoken across Northern California immigrant communities — most legal tools serve one.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937760"/>
            <a:ext cx="110642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5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212080"/>
            <a:ext cx="640080" cy="64008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645920" y="50749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gap is real.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645920" y="548640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DIY filing software is cheap but lonely — it speaks one language and abandons you at the hard parts. Attorneys are thorough but priced for a different decade. Between them, millions of qualified applicants stall out — or never start.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 / 12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4864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IMVERICA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C87A5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8872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solution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licensed Legal Document Assistant, an AI-assisted intake, four languages — and supervising attorneys when the case calls for one.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37744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bridge between </a:t>
            </a:r>
            <a:pPr indent="0" marL="0">
              <a:buNone/>
            </a:pPr>
            <a:r>
              <a:rPr lang="en-US" sz="3600" b="1" dirty="0">
                <a:solidFill>
                  <a:srgbClr val="C87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$50 software</a:t>
            </a:r>
            <a:pPr indent="0" marL="0">
              <a:buNone/>
            </a:pPr>
            <a:r>
              <a:rPr lang="en-US" sz="36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pPr indent="0" marL="0">
              <a:buNone/>
            </a:pPr>
            <a:r>
              <a:rPr lang="en-US" sz="3600" b="1" dirty="0">
                <a:solidFill>
                  <a:srgbClr val="1A2E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$5,000 attorneys</a:t>
            </a:r>
            <a:pPr indent="0" marL="0">
              <a:buNone/>
            </a:pPr>
            <a:r>
              <a:rPr lang="en-US" sz="36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36576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160520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41605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Multilingual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475488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English · Русский · Українська · Español. Every form, every channel, in the client’s language.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89120" y="3931920"/>
            <a:ext cx="36576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5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416052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41605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AI-assisted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663440" y="475488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Claude Opus 4.7 with 30K-token cached catalog. Faster intake, fewer dropped applications.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229600" y="3931920"/>
            <a:ext cx="36576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4160520"/>
            <a:ext cx="502920" cy="5029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144000" y="41605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Human-supervised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503920" y="475488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Founder trained under a licensed immigration attorney. 11+ years filing USCIS petitions. Supervising attorneys on call.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/ 12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54864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IMVERICA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C87A5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8872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product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full intake-to-filing platform — already live at imverica.com.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5321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42316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37360" y="23774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Intake &amp; Chat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737360" y="288036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Claude Opus 4.7 with prompt caching. Refuses UPL, escalates legal questions to attorneys.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355080" y="2103120"/>
            <a:ext cx="55321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423160"/>
            <a:ext cx="640080" cy="6400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43800" y="23774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Telegram Bot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7543800" y="288036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4-language conversational intake. Meets clients where they already are.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4160520"/>
            <a:ext cx="55321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480560"/>
            <a:ext cx="640080" cy="6400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737360" y="44348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USCIS Form Automation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1737360" y="493776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I-485 + 30 forms with schema-driven rendering. Pre-fills 80% of fields from one intake.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355080" y="4160520"/>
            <a:ext cx="55321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5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4480560"/>
            <a:ext cx="640080" cy="64008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543800" y="44348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Encrypted Portal</a:t>
            </a:r>
            <a:endParaRPr lang="en-US" sz="1800" dirty="0"/>
          </a:p>
        </p:txBody>
      </p:sp>
      <p:sp>
        <p:nvSpPr>
          <p:cNvPr id="21" name="Text 15"/>
          <p:cNvSpPr/>
          <p:nvPr/>
        </p:nvSpPr>
        <p:spPr>
          <a:xfrm>
            <a:off x="7543800" y="493776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AES-256 client messaging + per-client Google Drive folders. Gmail-reply bridge for staff.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/ 12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54864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IMVERICA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C87A5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8872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market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California: the largest immigrant population in the United States — and the most underserved.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1A2E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11M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California immigrants — 27% of the state’s population.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89120" y="219456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C87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8M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4389120" y="3520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USCIS applications filed nationwide every year.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0" y="219456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8A9A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$1.4B</a:t>
            </a:r>
            <a:endParaRPr lang="en-US" sz="6400" dirty="0"/>
          </a:p>
        </p:txBody>
      </p:sp>
      <p:sp>
        <p:nvSpPr>
          <p:cNvPr id="11" name="Text 9"/>
          <p:cNvSpPr/>
          <p:nvPr/>
        </p:nvSpPr>
        <p:spPr>
          <a:xfrm>
            <a:off x="8229600" y="3520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Annual addressable market for LDA-style document services in CA.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4297680"/>
          <a:ext cx="1106424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/ 12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IMVERICA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C87A5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8872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model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Fixed-price packages. Transparent. Repeat-client compounding.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26060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194560"/>
            <a:ext cx="2606040" cy="411480"/>
          </a:xfrm>
          <a:prstGeom prst="rect">
            <a:avLst/>
          </a:prstGeom>
          <a:solidFill>
            <a:srgbClr val="8A9A85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1945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Translations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7889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$45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731520" y="36118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/ page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4069080"/>
            <a:ext cx="2240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USCIS-certified translation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Certificate of accuracy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48-hour turnaround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83280" y="2194560"/>
            <a:ext cx="26060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2194560"/>
            <a:ext cx="2606040" cy="411480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21945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 Court forms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66160" y="27889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$295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3566160" y="36118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/ matter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566160" y="4069080"/>
            <a:ext cx="2240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Divorce, custody, eviction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E-filing assistance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Hearing-date tracking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17920" y="2194560"/>
            <a:ext cx="26060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7920" y="2194560"/>
            <a:ext cx="2606040" cy="411480"/>
          </a:xfrm>
          <a:prstGeom prst="rect">
            <a:avLst/>
          </a:prstGeom>
          <a:solidFill>
            <a:srgbClr val="C87A5C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0" y="21945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USCIS petition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0" y="27889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$895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400800" y="36118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/ filing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0" y="4069080"/>
            <a:ext cx="2240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I-130 / I-485 / N-400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Document prep &amp; QA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RFE response support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052560" y="2194560"/>
            <a:ext cx="26060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052560" y="2194560"/>
            <a:ext cx="2606040" cy="41148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26" name="Text 24"/>
          <p:cNvSpPr/>
          <p:nvPr/>
        </p:nvSpPr>
        <p:spPr>
          <a:xfrm>
            <a:off x="9235440" y="21945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Complex case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235440" y="27889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$1,495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9235440" y="36118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/ filing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235440" y="4069080"/>
            <a:ext cx="2240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Asylum / VAWA / U-visa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Attorney supervision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Hearing prep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989320"/>
            <a:ext cx="11064240" cy="59436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" y="5989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70% gross margin</a:t>
            </a:r>
            <a:pPr algn="ctr" indent="0" marL="0">
              <a:buNone/>
            </a:pPr>
            <a:r>
              <a:rPr lang="en-US" sz="1200" dirty="0">
                <a:solidFill>
                  <a:srgbClr val="D9D2C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 ·   </a:t>
            </a:r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tech-enabled fulfillment</a:t>
            </a:r>
            <a:pPr algn="ctr" indent="0" marL="0">
              <a:buNone/>
            </a:pPr>
            <a:r>
              <a:rPr lang="en-US" sz="1200" dirty="0">
                <a:solidFill>
                  <a:srgbClr val="D9D2C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 ·   </a:t>
            </a:r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repeat-client compounding through families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 / 12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4864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IMVERICA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C87A5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8872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&amp; live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didn’t pitch this — we shipped it.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2606040" cy="182880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1945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229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731520" y="3108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pages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2C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across 4 languages on imverica.com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2103120"/>
            <a:ext cx="2606040" cy="182880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11" name="Text 9"/>
          <p:cNvSpPr/>
          <p:nvPr/>
        </p:nvSpPr>
        <p:spPr>
          <a:xfrm>
            <a:off x="3566160" y="21945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30+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3566160" y="3108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USCIS forms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66160" y="34747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2C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mapped + schema-driven rendering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2103120"/>
            <a:ext cx="2606040" cy="182880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21945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6400800" y="3108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channel intake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0" y="34747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2C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web · Telegram · WhatsApp-ready · email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052560" y="2103120"/>
            <a:ext cx="2606040" cy="182880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19" name="Text 17"/>
          <p:cNvSpPr/>
          <p:nvPr/>
        </p:nvSpPr>
        <p:spPr>
          <a:xfrm>
            <a:off x="9235440" y="21945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&lt;60s</a:t>
            </a:r>
            <a:endParaRPr lang="en-US" sz="5600" dirty="0"/>
          </a:p>
        </p:txBody>
      </p:sp>
      <p:sp>
        <p:nvSpPr>
          <p:cNvPr id="20" name="Text 18"/>
          <p:cNvSpPr/>
          <p:nvPr/>
        </p:nvSpPr>
        <p:spPr>
          <a:xfrm>
            <a:off x="9235440" y="3108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time-to-first-quote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235440" y="34747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2C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AI-assisted intake → priced + scheduled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4206240"/>
            <a:ext cx="110642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4343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What’s already shipped</a:t>
            </a:r>
            <a:endParaRPr lang="en-US" sz="14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800600"/>
            <a:ext cx="274320" cy="27432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1143000" y="47548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Per-client Google Drive folders — live</a:t>
            </a:r>
            <a:endParaRPr lang="en-US" sz="115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4800600"/>
            <a:ext cx="274320" cy="27432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629400" y="47548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Encrypted client portal + Gmail-reply bridge — live</a:t>
            </a:r>
            <a:endParaRPr lang="en-US" sz="115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257800"/>
            <a:ext cx="274320" cy="27432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114300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Multilingual Telegram bot — live</a:t>
            </a:r>
            <a:endParaRPr lang="en-US" sz="115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5257800"/>
            <a:ext cx="274320" cy="27432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662940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Stripe pricing tiers — wired</a:t>
            </a:r>
            <a:endParaRPr lang="en-US" sz="115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715000"/>
            <a:ext cx="274320" cy="27432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143000" y="5669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iOS / Android app shells — in review</a:t>
            </a:r>
            <a:endParaRPr lang="en-US" sz="1150" dirty="0"/>
          </a:p>
        </p:txBody>
      </p:sp>
      <p:sp>
        <p:nvSpPr>
          <p:cNvPr id="34" name="Text 27"/>
          <p:cNvSpPr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 / 12</a:t>
            </a:r>
            <a:endParaRPr lang="en-US" sz="900" dirty="0"/>
          </a:p>
        </p:txBody>
      </p:sp>
      <p:sp>
        <p:nvSpPr>
          <p:cNvPr id="35" name="Text 28"/>
          <p:cNvSpPr/>
          <p:nvPr/>
        </p:nvSpPr>
        <p:spPr>
          <a:xfrm>
            <a:off x="54864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IMVERICA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C87A5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8872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moat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we built can’t be copy-pasted in a weekend.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4068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103120"/>
            <a:ext cx="73152" cy="1874520"/>
          </a:xfrm>
          <a:prstGeom prst="rect">
            <a:avLst/>
          </a:prstGeom>
          <a:solidFill>
            <a:srgbClr val="C87A5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377440"/>
            <a:ext cx="594360" cy="594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45920" y="23317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30K-token cached AI catalog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645920" y="2880360"/>
            <a:ext cx="4297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Claude Opus 4.7 with explicit cache_control — every conversation reads from a curated, attorney-reviewed knowledge base at ~10% the price of a fresh prompt.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217920" y="2103120"/>
            <a:ext cx="544068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17920" y="2103120"/>
            <a:ext cx="73152" cy="1874520"/>
          </a:xfrm>
          <a:prstGeom prst="rect">
            <a:avLst/>
          </a:prstGeom>
          <a:solidFill>
            <a:srgbClr val="C87A5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377440"/>
            <a:ext cx="594360" cy="5943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315200" y="23317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USCIS schema engine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7315200" y="2880360"/>
            <a:ext cx="4297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required field across 30+ forms encoded as a typed schema. New forms ship in days, not months. The same intake feeds every form.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48640" y="4160520"/>
            <a:ext cx="544068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48640" y="4160520"/>
            <a:ext cx="73152" cy="1874520"/>
          </a:xfrm>
          <a:prstGeom prst="rect">
            <a:avLst/>
          </a:prstGeom>
          <a:solidFill>
            <a:srgbClr val="C87A5C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434840"/>
            <a:ext cx="594360" cy="5943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43891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Encrypted client data at rest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1645920" y="4937760"/>
            <a:ext cx="4297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AES-256-GCM per-record encryption with key separation. Client PII never lives in plaintext on disk — survives any blob-store breach.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6217920" y="4160520"/>
            <a:ext cx="544068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5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217920" y="4160520"/>
            <a:ext cx="73152" cy="1874520"/>
          </a:xfrm>
          <a:prstGeom prst="rect">
            <a:avLst/>
          </a:prstGeom>
          <a:solidFill>
            <a:srgbClr val="C87A5C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4434840"/>
            <a:ext cx="594360" cy="59436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315200" y="43891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Per-client Drive isolation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7315200" y="4937760"/>
            <a:ext cx="4297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Service-account JWT auth → folder per client → folder per order. Documents auto-organized; the operator never sees the bytes.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 / 12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54864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IMVERICA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C87A5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8872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Competition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sit between the two extremes — and take the best of both.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657600" cy="4206240"/>
          </a:xfrm>
          <a:prstGeom prst="rect">
            <a:avLst/>
          </a:prstGeom>
          <a:solidFill>
            <a:srgbClr val="EFEAE0"/>
          </a:solidFill>
          <a:ln w="12700">
            <a:solidFill>
              <a:srgbClr val="D9D2C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2402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DIY Software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77240" y="2743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spc="200" kern="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Boundless, Borderwise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3108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7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$50–$300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77240" y="3703320"/>
            <a:ext cx="3200400" cy="13716"/>
          </a:xfrm>
          <a:prstGeom prst="rect">
            <a:avLst/>
          </a:prstGeom>
          <a:solidFill>
            <a:srgbClr val="D9D2C5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82219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Languages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468880" y="382219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 only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" y="42062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Humans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468880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None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77240" y="45902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Legal advice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468880" y="459028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None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77240" y="4974336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Forms supported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468880" y="4974336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10–20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77240" y="5358384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Error rate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468880" y="5358384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High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25112" y="2103120"/>
            <a:ext cx="3657600" cy="4206240"/>
          </a:xfrm>
          <a:prstGeom prst="rect">
            <a:avLst/>
          </a:prstGeom>
          <a:solidFill>
            <a:srgbClr val="1A2E4A"/>
          </a:solidFill>
          <a:ln w="12700">
            <a:solidFill>
              <a:srgbClr val="D9D2C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53712" y="22402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Imverica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553712" y="2743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spc="200" kern="0" dirty="0">
                <a:solidFill>
                  <a:srgbClr val="C9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 are here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53712" y="3108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$45–$1,495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4553712" y="3703320"/>
            <a:ext cx="3200400" cy="13716"/>
          </a:xfrm>
          <a:prstGeom prst="rect">
            <a:avLst/>
          </a:prstGeom>
          <a:solidFill>
            <a:srgbClr val="3A4D6E"/>
          </a:solidFill>
          <a:ln/>
        </p:spPr>
      </p:sp>
      <p:sp>
        <p:nvSpPr>
          <p:cNvPr id="26" name="Text 24"/>
          <p:cNvSpPr/>
          <p:nvPr/>
        </p:nvSpPr>
        <p:spPr>
          <a:xfrm>
            <a:off x="4553712" y="382219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2C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Languages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45352" y="382219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langs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53712" y="42062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2C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Humans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45352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LDA + atty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553712" y="45902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2C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Legal advice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45352" y="459028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Supervised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53712" y="4974336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2C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Forms supported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45352" y="4974336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30+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553712" y="5358384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2C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Error rate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245352" y="5358384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Low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101584" y="2103120"/>
            <a:ext cx="3657600" cy="4206240"/>
          </a:xfrm>
          <a:prstGeom prst="rect">
            <a:avLst/>
          </a:prstGeom>
          <a:solidFill>
            <a:srgbClr val="EFEAE0"/>
          </a:solidFill>
          <a:ln w="12700">
            <a:solidFill>
              <a:srgbClr val="D9D2C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330184" y="22402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Attorney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8330184" y="2743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spc="200" kern="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Solo or firm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30184" y="3108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7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$3K–$15K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8330184" y="3703320"/>
            <a:ext cx="3200400" cy="13716"/>
          </a:xfrm>
          <a:prstGeom prst="rect">
            <a:avLst/>
          </a:prstGeom>
          <a:solidFill>
            <a:srgbClr val="D9D2C5"/>
          </a:solidFill>
          <a:ln/>
        </p:spPr>
      </p:sp>
      <p:sp>
        <p:nvSpPr>
          <p:cNvPr id="41" name="Text 39"/>
          <p:cNvSpPr/>
          <p:nvPr/>
        </p:nvSpPr>
        <p:spPr>
          <a:xfrm>
            <a:off x="8330184" y="382219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Languages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021824" y="382219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EN/ES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330184" y="42062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Humans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0021824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Always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330184" y="45902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Legal advice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10021824" y="459028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Full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8330184" y="4974336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Forms supported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10021824" y="4974336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All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330184" y="5358384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Error rate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0021824" y="5358384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Lowest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 / 12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4864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IMVERICA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C87A5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8872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&amp; supervision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Operators close to the community + the legal scaffolding to back them.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864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2377440"/>
            <a:ext cx="1280160" cy="1280160"/>
          </a:xfrm>
          <a:prstGeom prst="ellipse">
            <a:avLst/>
          </a:prstGeom>
          <a:solidFill>
            <a:srgbClr val="1A2E4A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3774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FK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2331720" y="24231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Farruh Kochkarov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331720" y="2926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spc="200" kern="0" dirty="0">
                <a:solidFill>
                  <a:srgbClr val="C87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Founder · LDA · Immigration Consultant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" y="379476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7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11+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331720" y="379476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years filing USCIS petitions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457200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7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Atty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2331720" y="45720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trained under a licensed immigration attorney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68680" y="53492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7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2331720" y="53492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registered LDA + immigration consultant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63640" y="2103120"/>
            <a:ext cx="5349240" cy="4206240"/>
          </a:xfrm>
          <a:prstGeom prst="rect">
            <a:avLst/>
          </a:prstGeom>
          <a:solidFill>
            <a:srgbClr val="1A2E4A"/>
          </a:solidFill>
          <a:ln/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2377440"/>
            <a:ext cx="731520" cy="73152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7498080" y="23774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Supervising attorneys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7498080" y="28803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When the case needs a lawyer.</a:t>
            </a:r>
            <a:endParaRPr lang="en-US" sz="11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3520440"/>
            <a:ext cx="274320" cy="27432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6949440" y="347472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9D2C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Cases requiring legal advice escalate from intake to a licensed CA / federal attorney within 24 hours.</a:t>
            </a:r>
            <a:endParaRPr lang="en-US" sz="11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4389120"/>
            <a:ext cx="274320" cy="27432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949440" y="434340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9D2C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Our AI assistant is hard-coded to refuse legal advice and route the question to a human.</a:t>
            </a:r>
            <a:endParaRPr lang="en-US" sz="11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5257800"/>
            <a:ext cx="274320" cy="2743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949440" y="521208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9D2C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Compliance with California Business &amp; Professions Code §6400–6415 (LDA) and §22440 (immigration consultant).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/ 12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54864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IMVERICA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C87A5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8872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shipped MVP to scaled regional operator in 12 months.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3383280"/>
            <a:ext cx="10515600" cy="36576"/>
          </a:xfrm>
          <a:prstGeom prst="rect">
            <a:avLst/>
          </a:prstGeom>
          <a:solidFill>
            <a:srgbClr val="D9D2C5"/>
          </a:solidFill>
          <a:ln/>
        </p:spPr>
      </p:sp>
      <p:sp>
        <p:nvSpPr>
          <p:cNvPr id="7" name="Shape 5"/>
          <p:cNvSpPr/>
          <p:nvPr/>
        </p:nvSpPr>
        <p:spPr>
          <a:xfrm>
            <a:off x="1559052" y="3108960"/>
            <a:ext cx="585216" cy="585216"/>
          </a:xfrm>
          <a:prstGeom prst="ellipse">
            <a:avLst/>
          </a:prstGeom>
          <a:solidFill>
            <a:srgbClr val="8A9A85"/>
          </a:solidFill>
          <a:ln/>
        </p:spPr>
      </p:sp>
      <p:sp>
        <p:nvSpPr>
          <p:cNvPr id="8" name="Text 6"/>
          <p:cNvSpPr/>
          <p:nvPr/>
        </p:nvSpPr>
        <p:spPr>
          <a:xfrm>
            <a:off x="1394460" y="31089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NOW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4069080"/>
            <a:ext cx="26060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4069080"/>
            <a:ext cx="2606040" cy="73152"/>
          </a:xfrm>
          <a:prstGeom prst="rect">
            <a:avLst/>
          </a:prstGeom>
          <a:solidFill>
            <a:srgbClr val="8A9A85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425196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&amp; accepting clients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51206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Web + Telegram + AI intake operating. Manual quote / contract / fulfillment flow.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93692" y="3108960"/>
            <a:ext cx="585216" cy="585216"/>
          </a:xfrm>
          <a:prstGeom prst="ellipse">
            <a:avLst/>
          </a:prstGeom>
          <a:solidFill>
            <a:srgbClr val="C9A96E"/>
          </a:solidFill>
          <a:ln/>
        </p:spPr>
      </p:sp>
      <p:sp>
        <p:nvSpPr>
          <p:cNvPr id="14" name="Text 12"/>
          <p:cNvSpPr/>
          <p:nvPr/>
        </p:nvSpPr>
        <p:spPr>
          <a:xfrm>
            <a:off x="4229100" y="31089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Q3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383280" y="4069080"/>
            <a:ext cx="26060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83280" y="4069080"/>
            <a:ext cx="2606040" cy="73152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17" name="Text 15"/>
          <p:cNvSpPr/>
          <p:nvPr/>
        </p:nvSpPr>
        <p:spPr>
          <a:xfrm>
            <a:off x="3566160" y="425196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Mobile apps + WhatsApp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566160" y="51206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iOS / Android app store submission. WhatsApp Business as primary channel for LATAM.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228332" y="3108960"/>
            <a:ext cx="585216" cy="585216"/>
          </a:xfrm>
          <a:prstGeom prst="ellipse">
            <a:avLst/>
          </a:prstGeom>
          <a:solidFill>
            <a:srgbClr val="C87A5C"/>
          </a:solidFill>
          <a:ln/>
        </p:spPr>
      </p:sp>
      <p:sp>
        <p:nvSpPr>
          <p:cNvPr id="20" name="Text 18"/>
          <p:cNvSpPr/>
          <p:nvPr/>
        </p:nvSpPr>
        <p:spPr>
          <a:xfrm>
            <a:off x="7063740" y="31089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Q4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4069080"/>
            <a:ext cx="26060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0" y="4069080"/>
            <a:ext cx="2606040" cy="73152"/>
          </a:xfrm>
          <a:prstGeom prst="rect">
            <a:avLst/>
          </a:prstGeom>
          <a:solidFill>
            <a:srgbClr val="C87A5C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425196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Stripe + bookings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0" y="51206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Full self-serve checkout. Calendar-linked attorney consultations. First paid ads.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0062972" y="3108960"/>
            <a:ext cx="585216" cy="585216"/>
          </a:xfrm>
          <a:prstGeom prst="ellipse">
            <a:avLst/>
          </a:prstGeom>
          <a:solidFill>
            <a:srgbClr val="1A2E4A"/>
          </a:solidFill>
          <a:ln/>
        </p:spPr>
      </p:sp>
      <p:sp>
        <p:nvSpPr>
          <p:cNvPr id="26" name="Text 24"/>
          <p:cNvSpPr/>
          <p:nvPr/>
        </p:nvSpPr>
        <p:spPr>
          <a:xfrm>
            <a:off x="9898380" y="31089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Q1’26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052560" y="4069080"/>
            <a:ext cx="26060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52560" y="4069080"/>
            <a:ext cx="2606040" cy="73152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29" name="Text 27"/>
          <p:cNvSpPr/>
          <p:nvPr/>
        </p:nvSpPr>
        <p:spPr>
          <a:xfrm>
            <a:off x="9235440" y="425196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clients / month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235440" y="51206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Operational target. Second LDA hired. Partnerships with Sacramento community orgs.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 / 12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IMVERICA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68912" y="0"/>
            <a:ext cx="320040" cy="6858000"/>
          </a:xfrm>
          <a:prstGeom prst="rect">
            <a:avLst/>
          </a:prstGeom>
          <a:solidFill>
            <a:srgbClr val="8A9A85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46304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Let’s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i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it together.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914400" y="429768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9D2C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We’re raising a friendly first round to fund mobile app launch, paid acquisition in Sacramento + Bay Area, and our second LDA hire. Reach out if you serve immigrant communities, build legal-tech, or simply want this to exist.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5760720"/>
            <a:ext cx="10058400" cy="64008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9A9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57607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C9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imverica.com</a:t>
            </a:r>
            <a:pPr algn="ctr" indent="0" marL="0">
              <a:buNone/>
            </a:pPr>
            <a:r>
              <a:rPr lang="en-US" sz="1400" spc="400" kern="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     </a:t>
            </a:r>
            <a:pPr algn="ctr" indent="0" marL="0">
              <a:buNone/>
            </a:pPr>
            <a:r>
              <a:rPr lang="en-US" sz="1400" spc="400" kern="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+1 (916) 399-3992</a:t>
            </a:r>
            <a:pPr algn="ctr" indent="0" marL="0">
              <a:buNone/>
            </a:pPr>
            <a:r>
              <a:rPr lang="en-US" sz="1400" spc="400" kern="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     </a:t>
            </a:r>
            <a:pPr algn="ctr" indent="0" marL="0">
              <a:buNone/>
            </a:pPr>
            <a:r>
              <a:rPr lang="en-US" sz="1400" spc="400" kern="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info@imverica.com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Imverica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Imverica — Investor Pitch</dc:title>
  <dc:subject>Tech-enabled multilingual legal document services</dc:subject>
  <dc:creator>Imverica Legal Solutions</dc:creator>
  <cp:lastModifiedBy>Imverica Legal Solutions</cp:lastModifiedBy>
  <cp:revision>1</cp:revision>
  <dcterms:created xsi:type="dcterms:W3CDTF">2026-06-04T12:25:37Z</dcterms:created>
  <dcterms:modified xsi:type="dcterms:W3CDTF">2026-06-04T12:25:37Z</dcterms:modified>
</cp:coreProperties>
</file>